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8" r:id="rId3"/>
    <p:sldId id="327" r:id="rId4"/>
    <p:sldId id="329" r:id="rId5"/>
    <p:sldId id="330" r:id="rId6"/>
    <p:sldId id="331" r:id="rId7"/>
    <p:sldId id="332" r:id="rId8"/>
    <p:sldId id="333" r:id="rId9"/>
    <p:sldId id="334" r:id="rId10"/>
    <p:sldId id="342" r:id="rId11"/>
    <p:sldId id="335" r:id="rId12"/>
    <p:sldId id="337" r:id="rId13"/>
    <p:sldId id="338" r:id="rId14"/>
    <p:sldId id="339" r:id="rId15"/>
    <p:sldId id="34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50FB1C-05BD-4CC9-9543-82B9E00A83A4}">
          <p14:sldIdLst>
            <p14:sldId id="256"/>
          </p14:sldIdLst>
        </p14:section>
        <p14:section name="Unsafe" id="{0747D86B-ADD9-4344-9A2E-C952B28AE108}">
          <p14:sldIdLst>
            <p14:sldId id="328"/>
            <p14:sldId id="327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Dynamic Loading" id="{BA6C1927-855A-4C88-9F6E-68CB3DB9478D}">
          <p14:sldIdLst>
            <p14:sldId id="342"/>
            <p14:sldId id="335"/>
            <p14:sldId id="337"/>
            <p14:sldId id="338"/>
            <p14:sldId id="339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A6FC-1D89-57F5-9940-F32377D6A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B003E-0BE0-F35F-29BD-FC4708BC8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6CB51-0510-F609-DC08-D6E979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D16F-995E-5826-84C4-08C85E7A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9C1F3-D4C0-E882-717A-3A3EA719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08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B521-1026-63D4-EAD8-89A8470C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442BB-CE8B-B8CF-8174-C8638C6C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6F4F9-4383-9B28-B5F9-8A2433ED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ED231-8FEC-F599-3810-A528F67F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CD094-A1EC-24DB-54FE-211CD9E2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86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EF88-1FB1-2837-2373-7637F5A3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E4909-1B96-0332-A903-E68142C2A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28B16-A728-E01B-8655-070B33AE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1F90E-77B3-3836-9B4A-1171D19F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0080-CFD4-22A8-5279-75222779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5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B1AE-3864-F656-E0DB-2DF023BF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EA08-D6A9-3B20-98E7-D4B3956E6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07CAF-73DD-8495-1562-5A7DBDB20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A046-048A-9B70-BE7B-814EA534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3F7A7-55C3-D9E7-F646-086F08D0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D49A5-0437-852B-28A7-1C6F04AA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8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81A-60EC-2C31-DABD-44CB5C47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CB5D3-228E-0D56-F759-D13A20896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54855-FF0F-4106-07DE-38CCDF3EC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5F6A4-5BA4-759E-D4D0-FD16AE97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1D388-702C-DF1D-F546-482F8C3CD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AAFB6-BFFF-AB5B-14DF-309372C8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97062-FC75-7EDB-0774-797D8774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7012B-3A96-46E6-CDE7-24C1FF14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38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E50A-0335-AC40-3388-585C0B37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6C364-8958-DE74-5CFE-7F9F23CC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70D34-9E3B-36BB-F805-A6A02494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D869A-8705-7FFA-C24A-5642CB6A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0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D4F01-1E96-3063-7195-DE8AF8A3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51761-5567-7378-FB35-82CAFE0A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48143-6692-CB58-EB41-B0C33029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09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3C5C-2A8C-3873-BE11-03636243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AAA2-12BB-B08D-3776-E8962D65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D4D6D-38EA-8169-FFC7-4B3504836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885E5-1114-E735-5876-0E56CBB7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E6327-D00C-2CA7-6DA6-37ED6871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C80F6-0EB5-B98A-BC0B-7AAB289E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20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09E5-D445-07F7-FC48-74A563CF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570D8-A884-DB82-1CEF-59B5EA748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2FEB0-2C10-482C-1152-B5AF79613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C9C3-A7D9-BC02-2B80-EA6B73ED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A092B-0EDF-3F86-B479-68FD3C9B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9723-77C6-EEC2-1EF3-565BED44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8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2546-E48F-8B71-6AAE-DD7356A5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5C342-DBEA-8033-F617-2CA3E5DAD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7C62-7042-4A7E-F723-F47C3532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7CF6-E41D-DB64-9E5A-01A78476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4271-4B41-A643-A842-EA55AF31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8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E37E5-297E-FEBD-73A5-B38AE05D9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F5F22-BA08-4261-F785-0A3BC8694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FEF1-4965-2514-8030-46935983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B2B0-3FF5-4FDB-CB06-2A0D509B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F7F1-BFD8-F5B2-1D25-4B2BB8C8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0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1C34-ED9E-3DCF-1F42-1B3525D4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514D5-A6B0-CBA1-8075-9B309FDC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2CD62-0C9B-D25E-FD97-2DF997439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AC8F1-21AA-47EF-82D9-7929EA07D29D}" type="datetimeFigureOut">
              <a:rPr lang="ru-RU" smtClean="0"/>
              <a:t>13.01.2024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97BC8-D0DA-C272-76C6-1080DF404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72B01-31D6-81EB-356F-260B2EEFB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35BD5-7C64-4856-9D4F-53B87FC05A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08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rates.io/crates/libload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s/vptr/latest/vptr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nals.rust-lang.org/t/pre-rfc-stabilize-a-version-of-the-rlib-format/1755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21CE-18B7-3562-FFD9-41A3414FD8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Unsafe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2990E-C755-69D3-FE29-75C496C25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Course: Rust Basics</a:t>
            </a:r>
          </a:p>
          <a:p>
            <a:r>
              <a:rPr lang="en-US" dirty="0"/>
              <a:t>Author: Aleksandr Kugushev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07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F9C3-091D-A34A-8D1B-39865F93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Unsafe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5D93-B8BF-DC3F-063B-3E6A39D6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703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const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split_at_mut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mid: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usize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], 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assert!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(mid &lt;=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.len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SAFETY: `[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ptr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; mid]` and `[mid; 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len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]` are inside `self`, which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// fulfills the requirements of `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from_raw_parts_mut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`.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.split_at_mut_unchecked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(mid)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518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5B54-58AD-6B04-413A-0ECFBA46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Unsafe Superpowers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730EA-A477-4472-0811-45B9378A1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Dereference a raw pointer</a:t>
            </a:r>
          </a:p>
          <a:p>
            <a:r>
              <a:rPr lang="en-US" dirty="0"/>
              <a:t>Call an unsafe function or method</a:t>
            </a:r>
          </a:p>
          <a:p>
            <a:r>
              <a:rPr lang="en-US" dirty="0"/>
              <a:t>Access or modify a mutable static variable</a:t>
            </a:r>
          </a:p>
          <a:p>
            <a:r>
              <a:rPr lang="en-US" dirty="0"/>
              <a:t>Implement an unsafe trait</a:t>
            </a:r>
          </a:p>
          <a:p>
            <a:r>
              <a:rPr lang="en-US" dirty="0"/>
              <a:t>Access fields of unions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88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B44B-7721-F355-5912-0CD04A6F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Dereference a raw pointer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D8F24-B7B5-076C-3B1D-340629620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mut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42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ptr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*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const i32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&amp;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mut_ptr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: *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mut i32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&amp;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mut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*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mut_ptr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123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int_ref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{ *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ptr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};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DD6718"/>
                </a:solidFill>
                <a:latin typeface="JetBrains Mono"/>
              </a:rPr>
              <a:t>println</a:t>
            </a:r>
            <a:r>
              <a:rPr lang="en-US" dirty="0">
                <a:solidFill>
                  <a:srgbClr val="DD6718"/>
                </a:solidFill>
                <a:latin typeface="JetBrains Mono"/>
              </a:rPr>
              <a:t>!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dirty="0" err="1">
                <a:solidFill>
                  <a:srgbClr val="0037A6"/>
                </a:solidFill>
                <a:latin typeface="JetBrains Mono"/>
              </a:rPr>
              <a:t>int_ref</a:t>
            </a:r>
            <a:r>
              <a:rPr lang="en-US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427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965D-5A1F-B4D0-AA84-897345B7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an unsafe function or method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9AC1-A431-7616-494E-29BD7AC39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const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split_at_mut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mid: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usize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], 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DD6718"/>
                </a:solidFill>
                <a:effectLst/>
                <a:latin typeface="JetBrains Mono"/>
              </a:rPr>
              <a:t>assert!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(mid &lt;=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.len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SAFETY: `[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ptr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; mid]` and `[mid; 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len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]` are inside `self`, which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// fulfills the requirements of `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from_raw_parts_mut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`.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self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.split_at_mut_unchecked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(mid)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const unsafe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split_at_mut_unchecked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self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 mid: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usize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(&amp;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], &amp;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mut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dirty="0">
                <a:solidFill>
                  <a:srgbClr val="20999D"/>
                </a:solidFill>
                <a:effectLst/>
                <a:latin typeface="JetBrains Mono"/>
              </a:rPr>
              <a:t>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]) {…..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126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01D3-7ADA-686C-C66E-2FFFCA14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or modify a mutable static variable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0835-524D-2053-0FB9-0A910062B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Don’t do it, use Atomics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</p:txBody>
      </p:sp>
    </p:spTree>
    <p:extLst>
      <p:ext uri="{BB962C8B-B14F-4D97-AF65-F5344CB8AC3E}">
        <p14:creationId xmlns:p14="http://schemas.microsoft.com/office/powerpoint/2010/main" val="72248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C4C3-DBD4-4386-0A92-AD79E1770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an unsafe trait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D01F-4664-C99D-CAB1-1F1F4C5B7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Unsafe trait is safe for users!</a:t>
            </a:r>
          </a:p>
          <a:p>
            <a:r>
              <a:rPr lang="en-US" dirty="0"/>
              <a:t>A trait is unsafe when at least one of its methods has some invariant that the compiler can’t verify.</a:t>
            </a:r>
          </a:p>
          <a:p>
            <a:pPr marL="0" indent="0"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 unsafe auto trait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Send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empty.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913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D166-5818-58ED-DEC9-7DE73BD3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fields of unions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5E21D-BD9D-A402-94C3-87EFDB1C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#[repr(C)]</a:t>
            </a:r>
            <a:br>
              <a:rPr lang="en-US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union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MyUnion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f1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f2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354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D9F0-C81E-32FD-6139-ADEF99B2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considers it "safe" to: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3FED-35CB-A220-7E78-B177FB682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  <a:p>
            <a:r>
              <a:rPr lang="en-US" dirty="0"/>
              <a:t>Have a race condition</a:t>
            </a:r>
          </a:p>
          <a:p>
            <a:r>
              <a:rPr lang="en-US" dirty="0"/>
              <a:t>Leak memory</a:t>
            </a:r>
          </a:p>
          <a:p>
            <a:r>
              <a:rPr lang="en-US" dirty="0"/>
              <a:t>Fail to call destructors</a:t>
            </a:r>
          </a:p>
          <a:p>
            <a:r>
              <a:rPr lang="en-US" dirty="0"/>
              <a:t>Overflow integers</a:t>
            </a:r>
          </a:p>
          <a:p>
            <a:r>
              <a:rPr lang="en-US" dirty="0"/>
              <a:t>Abort the program</a:t>
            </a:r>
          </a:p>
          <a:p>
            <a:r>
              <a:rPr lang="en-US" dirty="0"/>
              <a:t>Delete the production database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42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9398A3-7970-3935-A3E7-E463E1F79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Y" dirty="0"/>
              <a:t>Dynamic Loading &amp; FFi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E86634-624E-30A4-AE98-E53B7AD9B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77116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B581-B199-4AF2-5F30-3BC25F6D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Linkage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D30F66-5F69-A644-6449-440AD2062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bin</a:t>
            </a:r>
          </a:p>
          <a:p>
            <a:pPr lvl="1"/>
            <a:r>
              <a:rPr lang="en-US" dirty="0"/>
              <a:t>exe, [none]</a:t>
            </a:r>
          </a:p>
          <a:p>
            <a:r>
              <a:rPr lang="en-US" dirty="0"/>
              <a:t>lib/</a:t>
            </a:r>
            <a:r>
              <a:rPr lang="en-US" dirty="0" err="1"/>
              <a:t>rlib</a:t>
            </a:r>
            <a:endParaRPr lang="en-US" dirty="0"/>
          </a:p>
          <a:p>
            <a:pPr lvl="1"/>
            <a:r>
              <a:rPr lang="en-US" dirty="0" err="1"/>
              <a:t>rlib</a:t>
            </a:r>
            <a:endParaRPr lang="en-US" dirty="0"/>
          </a:p>
          <a:p>
            <a:r>
              <a:rPr lang="en-US" dirty="0" err="1"/>
              <a:t>staticlib</a:t>
            </a:r>
            <a:endParaRPr lang="en-US" dirty="0"/>
          </a:p>
          <a:p>
            <a:pPr lvl="1"/>
            <a:r>
              <a:rPr lang="en-US" dirty="0"/>
              <a:t>.a,.lib</a:t>
            </a:r>
          </a:p>
          <a:p>
            <a:pPr lvl="1"/>
            <a:r>
              <a:rPr lang="en-US" dirty="0"/>
              <a:t>Pack All</a:t>
            </a:r>
          </a:p>
          <a:p>
            <a:r>
              <a:rPr lang="en-US" dirty="0" err="1"/>
              <a:t>dylib</a:t>
            </a:r>
            <a:endParaRPr lang="en-US" dirty="0"/>
          </a:p>
          <a:p>
            <a:pPr lvl="1"/>
            <a:r>
              <a:rPr lang="en-US" dirty="0"/>
              <a:t>so, </a:t>
            </a:r>
            <a:r>
              <a:rPr lang="en-US" dirty="0" err="1"/>
              <a:t>dylib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lang="en-US" dirty="0"/>
          </a:p>
          <a:p>
            <a:pPr lvl="1"/>
            <a:r>
              <a:rPr lang="en-US" dirty="0"/>
              <a:t>Unstable ABI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052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CD29-0D87-0686-074A-C87AD013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Libloading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77428-F3DF-9BF8-23DE-D41BCA3D9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https://crates.io/crates/libloading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call_dynamic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-&gt; Result&lt;u32, Box&lt;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dyn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std::error::Error&gt;&gt;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lib =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libloading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::Library::new(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"/path/to/liblibrary.so"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)?;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let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func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libloading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::Symbol&lt;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unsafe extern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-&gt; u32&gt; = 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lib.get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067D17"/>
                </a:solidFill>
                <a:effectLst/>
                <a:latin typeface="JetBrains Mono"/>
              </a:rPr>
              <a:t>b"my_func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)?;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Ok(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func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())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118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F35D-012C-F47D-ED65-BA80EC4B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vtable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7AB9-2DDA-694A-605C-A66FE8C15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way by default</a:t>
            </a:r>
          </a:p>
          <a:p>
            <a:r>
              <a:rPr lang="en-US" dirty="0"/>
              <a:t>Custom </a:t>
            </a:r>
            <a:r>
              <a:rPr lang="en-US" dirty="0" err="1"/>
              <a:t>Vtable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https://docs.rs/vptr/latest/vptr/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212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038E-5B99-B27F-D378-9D0F04BB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ABI is not stable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055B-D950-C2DD-427B-1A112168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https://internals.rust-lang.org/t/pre-rfc-stabilize-a-version-of-the-rlib-format/17558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50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8D48-9D1E-BEEF-265D-B7872FD5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FFI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722DD-6245-83CB-D555-FE5461AF4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C-Like Libraries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E75DB9-1D50-0EEF-39A4-43E4577B6C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9E880D"/>
                </a:solidFill>
                <a:latin typeface="JetBrains Mono"/>
              </a:rPr>
              <a:t>#[link(name = "m")]</a:t>
            </a:r>
            <a:br>
              <a:rPr lang="en-US" dirty="0">
                <a:solidFill>
                  <a:srgbClr val="9E880D"/>
                </a:solidFill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latin typeface="JetBrains Mono"/>
              </a:rPr>
              <a:t>extern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 err="1">
                <a:solidFill>
                  <a:srgbClr val="0033B3"/>
                </a:solidFill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latin typeface="JetBrains Mono"/>
              </a:rPr>
              <a:t>other_cos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(z: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f32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f32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 err="1">
                <a:solidFill>
                  <a:srgbClr val="0033B3"/>
                </a:solidFill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US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() 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let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result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dirty="0">
                <a:solidFill>
                  <a:srgbClr val="0033B3"/>
                </a:solidFill>
                <a:latin typeface="JetBrains Mono"/>
              </a:rPr>
              <a:t>unsafe 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dirty="0" err="1">
                <a:solidFill>
                  <a:srgbClr val="080808"/>
                </a:solidFill>
                <a:latin typeface="JetBrains Mono"/>
              </a:rPr>
              <a:t>other_cos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dirty="0">
                <a:solidFill>
                  <a:srgbClr val="1750EB"/>
                </a:solidFill>
                <a:latin typeface="JetBrains Mono"/>
              </a:rPr>
              <a:t>0.5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    };</a:t>
            </a:r>
            <a:br>
              <a:rPr lang="en-US" dirty="0">
                <a:solidFill>
                  <a:srgbClr val="080808"/>
                </a:solidFill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latin typeface="JetBrains Mono"/>
              </a:rPr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2A208E-C014-47A4-F470-DB6EADEAF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Build C-Like Libraries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AD8481-7CA3-3660-5547-5B11AF165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66347" cy="3684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#[repr(C)]</a:t>
            </a:r>
            <a:br>
              <a:rPr lang="en-US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struct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MyStruct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re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im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f32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extern </a:t>
            </a:r>
            <a:r>
              <a:rPr lang="en-US" dirty="0">
                <a:solidFill>
                  <a:srgbClr val="067D17"/>
                </a:solidFill>
                <a:effectLst/>
                <a:latin typeface="JetBrains Mono"/>
              </a:rPr>
              <a:t>"C"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fn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my_cos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(str: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MyStruct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f32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str.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re</a:t>
            </a:r>
            <a:br>
              <a:rPr lang="en-US" dirty="0">
                <a:solidFill>
                  <a:srgbClr val="871094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634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708</Words>
  <Application>Microsoft Macintosh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JetBrains Mono</vt:lpstr>
      <vt:lpstr>Wingdings</vt:lpstr>
      <vt:lpstr>Office Theme</vt:lpstr>
      <vt:lpstr>Unsafe</vt:lpstr>
      <vt:lpstr>Unsafe</vt:lpstr>
      <vt:lpstr>Unsafe Superpowers</vt:lpstr>
      <vt:lpstr>Dereference a raw pointer</vt:lpstr>
      <vt:lpstr>Call an unsafe function or method</vt:lpstr>
      <vt:lpstr>Access or modify a mutable static variable</vt:lpstr>
      <vt:lpstr>Implement an unsafe trait</vt:lpstr>
      <vt:lpstr>Access fields of unions</vt:lpstr>
      <vt:lpstr>Rust considers it "safe" to:</vt:lpstr>
      <vt:lpstr>Dynamic Loading &amp; FFi</vt:lpstr>
      <vt:lpstr>Linkage</vt:lpstr>
      <vt:lpstr>Libloading</vt:lpstr>
      <vt:lpstr>vtable?</vt:lpstr>
      <vt:lpstr>Rust ABI is not stable</vt:lpstr>
      <vt:lpstr>FFI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Ownership</dc:title>
  <dc:creator>Aleksandr Kugushev</dc:creator>
  <cp:lastModifiedBy>Aleksandr Kugushev</cp:lastModifiedBy>
  <cp:revision>54</cp:revision>
  <dcterms:created xsi:type="dcterms:W3CDTF">2023-02-05T11:10:09Z</dcterms:created>
  <dcterms:modified xsi:type="dcterms:W3CDTF">2024-01-13T13:21:48Z</dcterms:modified>
</cp:coreProperties>
</file>